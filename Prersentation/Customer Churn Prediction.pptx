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Merriweather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62E19B-147B-4760-BEDF-54F5F111C829}">
  <a:tblStyle styleId="{2562E19B-147B-4760-BEDF-54F5F111C8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ar-EG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0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40393" y="1325909"/>
            <a:ext cx="9711213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Churn Prediction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381625" y="2365920"/>
            <a:ext cx="142875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386137" y="2880270"/>
            <a:ext cx="54197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Using Machine Learning to Identify Attrition Factors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22031" y="4076759"/>
            <a:ext cx="25669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Course: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Quality Assurance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910137" y="4541341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Team: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Data Wizards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910137" y="5036641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University: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Tech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81225"/>
            <a:ext cx="5476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381000" y="2624137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Bank Churners Dataset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81225"/>
            <a:ext cx="5476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04825" y="3119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119436"/>
            <a:ext cx="55602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Scale: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Contains over 10,000 anonymized customer records.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504825" y="3424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3424237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Predict the Attrition_Flag (Existing vs. Attrited).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504825" y="3738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738562"/>
            <a:ext cx="5286375" cy="192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Feature Categories: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7700" y="41386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4138612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Demographic: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Age, Gender, Education Level, Marital Status.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7700" y="4748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474821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Financial: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Income Category, Credit Limit, Card Category.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47700" y="50530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62000" y="5053012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Behavioral: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Transaction Count, Total Amount, Inactivity Months.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Overview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600325"/>
            <a:ext cx="547687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00325"/>
            <a:ext cx="547687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09625" y="3248025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3781425"/>
            <a:ext cx="46672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Customer churn significantly impacts revenue and long-term growth. Identifying at-risk customers solely through manual review is inefficient and reactive rather than proactive.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62750" y="3248025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Our Objective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762750" y="3781425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“To predict customer churn and identify the key factors that influence customer attrition using data analysis and machine learning techniques.”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Goal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718619"/>
            <a:ext cx="2514600" cy="178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3718619"/>
            <a:ext cx="2514600" cy="178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3718619"/>
            <a:ext cx="2514600" cy="17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381000" y="3289994"/>
            <a:ext cx="11430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96400" y="3718619"/>
            <a:ext cx="2514600" cy="178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18159" y="4175819"/>
            <a:ext cx="22402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Preparation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4671119"/>
            <a:ext cx="2133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Import &amp; Cleaning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Handling Nulls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3489960" y="4175819"/>
            <a:ext cx="22402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543300" y="4671119"/>
            <a:ext cx="2133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Exploratory Data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Feature Engineering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61760" y="4175819"/>
            <a:ext cx="22402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Modeling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15100" y="4671119"/>
            <a:ext cx="2133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Statistical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Model Training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433560" y="4175819"/>
            <a:ext cx="22402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486900" y="4671119"/>
            <a:ext cx="2133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Performance Metrics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Business Insights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Workflow (Data Lifecycle)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0175" y="30518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1975" y="30518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3775" y="30518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15575" y="3051869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000250"/>
            <a:ext cx="36195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000250"/>
            <a:ext cx="36195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000250"/>
            <a:ext cx="36195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2286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90550" y="35052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Handling Missing Values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6750" y="447675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Identified and treated null values in demographic fields using mode imputation to maintain dataset size and integrity.</a:t>
            </a:r>
            <a:endParaRPr/>
          </a:p>
        </p:txBody>
      </p:sp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0" y="2286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4785836" y="3505200"/>
            <a:ext cx="262032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Encoding Variables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572000" y="413385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Converted categorical features like 'Gender' and 'Education_Level' into numeric formats suitable for ML algorithms.</a:t>
            </a:r>
            <a:endParaRPr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0" y="2286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831103" y="3505200"/>
            <a:ext cx="23402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Consistency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477250" y="413385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Verified data types and removed duplicate records to ensure the model learns from high-quality, unique observations.</a:t>
            </a:r>
            <a:endParaRPr/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76437" y="24765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875" y="24765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34562" y="2476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Cleaning &amp; Preprocessing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571500"/>
            <a:ext cx="52006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1857375"/>
            <a:ext cx="4953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2628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Distribution Analysis: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Uncovered skewed distributions in credit limits, suggesting the need for normalization.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36195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Correlation Analysis: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heatmap helps identify highly correlated features (multicollinearity) to reduce noise in the model.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49149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Churn vs. Behavior: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Clear patterns emerged showing churned customers tend to have significantly lower transaction counts and revolving balances.</a:t>
            </a:r>
            <a:endParaRPr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4F8A09E-71DD-4125-F33B-19A850236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578" y="985837"/>
            <a:ext cx="5931344" cy="4886325"/>
          </a:xfrm>
          <a:prstGeom prst="rect">
            <a:avLst/>
          </a:prstGeom>
          <a:effectLst>
            <a:outerShdw blurRad="165100" dist="50800" dir="5400000" algn="ctr" rotWithShape="0">
              <a:srgbClr val="000000">
                <a:alpha val="99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381000" y="2409825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Transforming raw data into meaningful predictors to improve model accuracy.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62000" y="315277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Engagement Score: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composite metric combining transaction count and total transaction amount to measure overall activity.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39528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Average Transaction Value: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Calculated as Total Amount / Transaction Count to identify high-value users.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44577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Credit Pressure: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Ratio of Total Revolving Bal / Credit Limit, indicating financial stress.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62000" y="49625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Tenure Grouping: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Segmenting customers into 'New', 'Established', and 'Long-term' to capture lifecycle effects.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54578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Transaction Frequency Groups: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Categorizing users into Low, Medium, and High frequency bins.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190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990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495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5000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54959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695450"/>
            <a:ext cx="11430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381000" y="2938462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Comparison of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Average Transaction Count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Existing vs. Attrited Customers</a:t>
            </a:r>
            <a:endParaRPr dirty="0"/>
          </a:p>
        </p:txBody>
      </p:sp>
      <p:sp>
        <p:nvSpPr>
          <p:cNvPr id="208" name="Google Shape;208;p20"/>
          <p:cNvSpPr txBox="1"/>
          <p:nvPr/>
        </p:nvSpPr>
        <p:spPr>
          <a:xfrm>
            <a:off x="381000" y="4624387"/>
            <a:ext cx="1143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"Statistical grouping reveals that churned customers perform nearly 40% fewer transactions on average, validating this feature's predictive power."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Statistical Analysis: Churn Patterns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543175"/>
            <a:ext cx="3606849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3599" y="2543175"/>
            <a:ext cx="3606849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66199" y="2543175"/>
            <a:ext cx="3644949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381000" y="1952625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was split 80/20 for training and testing to ensure valid evaluation.</a:t>
            </a:r>
            <a:endParaRPr/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3350" y="28289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859184" y="4048125"/>
            <a:ext cx="265033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Logistic Regression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66750" y="4676775"/>
            <a:ext cx="30353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Used as a baseline model to understand linear relationships and establish a performance benchmark.</a:t>
            </a:r>
            <a:endParaRPr/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95950" y="28289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5141833" y="4048125"/>
            <a:ext cx="187023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 Tree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559349" y="4676775"/>
            <a:ext cx="30353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Implemented to capture non-linear patterns and visualize decision rules for better interpretability.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7599" y="28479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958470" y="4067175"/>
            <a:ext cx="206025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470999" y="4695825"/>
            <a:ext cx="30353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Selected Model: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Chosen for its robustness against overfitting and superior accuracy (Ensemble Method).</a:t>
            </a:r>
            <a:endParaRPr/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93850" y="3019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10262" y="30194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Modeling Strategy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2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19350"/>
            <a:ext cx="5476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381000" y="2457450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 Performance</a:t>
            </a:r>
            <a:endParaRPr/>
          </a:p>
        </p:txBody>
      </p:sp>
      <p:graphicFrame>
        <p:nvGraphicFramePr>
          <p:cNvPr id="240" name="Google Shape;240;p22"/>
          <p:cNvGraphicFramePr/>
          <p:nvPr>
            <p:extLst>
              <p:ext uri="{D42A27DB-BD31-4B8C-83A1-F6EECF244321}">
                <p14:modId xmlns:p14="http://schemas.microsoft.com/office/powerpoint/2010/main" val="2883726920"/>
              </p:ext>
            </p:extLst>
          </p:nvPr>
        </p:nvGraphicFramePr>
        <p:xfrm>
          <a:off x="381000" y="2990850"/>
          <a:ext cx="5476875" cy="2990875"/>
        </p:xfrm>
        <a:graphic>
          <a:graphicData uri="http://schemas.openxmlformats.org/drawingml/2006/table">
            <a:tbl>
              <a:tblPr firstRow="1" bandRow="1">
                <a:noFill/>
                <a:tableStyleId>{2562E19B-147B-4760-BEDF-54F5F111C829}</a:tableStyleId>
              </a:tblPr>
              <a:tblGrid>
                <a:gridCol w="332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Accuracy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94.9%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90.8%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76.3%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82.9%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ROC-AUC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Google Shape;242;p22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Evaluation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B8C83F-B886-F24F-87A8-24E30D65A775}"/>
              </a:ext>
            </a:extLst>
          </p:cNvPr>
          <p:cNvCxnSpPr>
            <a:cxnSpLocks/>
          </p:cNvCxnSpPr>
          <p:nvPr/>
        </p:nvCxnSpPr>
        <p:spPr>
          <a:xfrm>
            <a:off x="381000" y="3501957"/>
            <a:ext cx="53777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119556-94EC-7D86-B9E2-9808BADBFF77}"/>
              </a:ext>
            </a:extLst>
          </p:cNvPr>
          <p:cNvCxnSpPr>
            <a:cxnSpLocks/>
          </p:cNvCxnSpPr>
          <p:nvPr/>
        </p:nvCxnSpPr>
        <p:spPr>
          <a:xfrm>
            <a:off x="381000" y="4173166"/>
            <a:ext cx="53777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F03DC3-E0A9-577C-B8F0-3B3D2E194776}"/>
              </a:ext>
            </a:extLst>
          </p:cNvPr>
          <p:cNvCxnSpPr>
            <a:cxnSpLocks/>
          </p:cNvCxnSpPr>
          <p:nvPr/>
        </p:nvCxnSpPr>
        <p:spPr>
          <a:xfrm>
            <a:off x="381000" y="4756825"/>
            <a:ext cx="53777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454DCC-618D-C958-6D8F-0290E0EB5AB9}"/>
              </a:ext>
            </a:extLst>
          </p:cNvPr>
          <p:cNvCxnSpPr>
            <a:cxnSpLocks/>
          </p:cNvCxnSpPr>
          <p:nvPr/>
        </p:nvCxnSpPr>
        <p:spPr>
          <a:xfrm>
            <a:off x="381000" y="5389122"/>
            <a:ext cx="53777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aph of a curve&#10;&#10;AI-generated content may be incorrect.">
            <a:extLst>
              <a:ext uri="{FF2B5EF4-FFF2-40B4-BE49-F238E27FC236}">
                <a16:creationId xmlns:a16="http://schemas.microsoft.com/office/drawing/2014/main" id="{79E48D0D-B11D-CA4A-0157-180F74B61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146" y="2479028"/>
            <a:ext cx="4020831" cy="32143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381000" y="2476500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GitHub Implementation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381000" y="5467350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github.com/Abdo-Hafez-0/QA-Project</a:t>
            </a:r>
            <a:endParaRPr dirty="0"/>
          </a:p>
        </p:txBody>
      </p:sp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5486400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762000" y="29718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Version Control: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Tracked changes in data processing and modeling scripts.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762000" y="37719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Collaboration: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Facilitated teamwork through branching and pull requests.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762000" y="45720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Reproducibility: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Standardized folder structure for easy deployment.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Version Control &amp; Collaboration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009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8100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610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3BFE425-EB4B-A973-07BE-2FBC4BD046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150" y="2255196"/>
            <a:ext cx="5029575" cy="3875864"/>
          </a:xfrm>
          <a:prstGeom prst="rect">
            <a:avLst/>
          </a:prstGeom>
          <a:effectLst>
            <a:outerShdw blurRad="88900" dist="50800" dir="4200000" algn="ctr" rotWithShape="0">
              <a:srgbClr val="000000">
                <a:alpha val="9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227064"/>
            <a:ext cx="8572500" cy="327615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3080623" y="1354633"/>
            <a:ext cx="6030753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Insights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2190750" y="2836664"/>
            <a:ext cx="7810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Key Insight: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Transaction Count and Total Transaction Amount are the strongest predictors of customer churn.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2190750" y="3796605"/>
            <a:ext cx="78105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Business Value: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Random Forest model can identify at-risk customers with 94% accuracy, enabling proactive retention campaigns that could save estimated 15% of potentially lost revenue.</a:t>
            </a:r>
            <a:endParaRPr dirty="0"/>
          </a:p>
        </p:txBody>
      </p:sp>
      <p:pic>
        <p:nvPicPr>
          <p:cNvPr id="270" name="Google Shape;27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8862" y="289381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5987" y="3902496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623</Words>
  <Application>Microsoft Office PowerPoint</Application>
  <PresentationFormat>Widescreen</PresentationFormat>
  <Paragraphs>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Merriweather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Abdulrahman Hafiz</cp:lastModifiedBy>
  <cp:revision>2</cp:revision>
  <dcterms:modified xsi:type="dcterms:W3CDTF">2025-12-16T22:14:10Z</dcterms:modified>
</cp:coreProperties>
</file>