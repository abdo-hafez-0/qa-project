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23" autoAdjust="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33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Analysis – Bank Churners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Visualization &amp; Documentation </a:t>
            </a:r>
            <a:br>
              <a:rPr lang="en-US" dirty="0"/>
            </a:br>
            <a:r>
              <a:rPr dirty="0"/>
              <a:t>EDA &amp; Modeling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Objective: Predict customer churn and identify key drivers</a:t>
            </a:r>
          </a:p>
          <a:p>
            <a:r>
              <a:rPr dirty="0"/>
              <a:t>Dataset: Bank Churners (demographic, behavioral, financial data)</a:t>
            </a:r>
          </a:p>
          <a:p>
            <a:r>
              <a:rPr dirty="0"/>
              <a:t>Approach: EDA, feature engineering, machine learning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Target variable: </a:t>
            </a:r>
            <a:r>
              <a:rPr dirty="0" err="1"/>
              <a:t>Attrition_Flag</a:t>
            </a:r>
            <a:r>
              <a:rPr dirty="0"/>
              <a:t> (Existing vs </a:t>
            </a:r>
            <a:r>
              <a:rPr dirty="0" err="1"/>
              <a:t>Attrited</a:t>
            </a:r>
            <a:r>
              <a:rPr dirty="0"/>
              <a:t> Customer)</a:t>
            </a:r>
          </a:p>
          <a:p>
            <a:r>
              <a:rPr dirty="0"/>
              <a:t>Behavioral features dominate churn prediction</a:t>
            </a:r>
          </a:p>
          <a:p>
            <a:r>
              <a:rPr dirty="0"/>
              <a:t>Class imbalance present in churn outcome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Handled data consistency and encoding</a:t>
            </a:r>
          </a:p>
          <a:p>
            <a:r>
              <a:rPr dirty="0"/>
              <a:t>Prepared numerical and categorical features</a:t>
            </a:r>
          </a:p>
          <a:p>
            <a:r>
              <a:rPr dirty="0"/>
              <a:t>Validated dataset for EDA and modeling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Comparison</a:t>
            </a:r>
          </a:p>
        </p:txBody>
      </p:sp>
      <p:pic>
        <p:nvPicPr>
          <p:cNvPr id="3" name="Picture 2" descr="3385066c-db0b-4d2e-9fbc-4d19889143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957" y="1491252"/>
            <a:ext cx="5966085" cy="46530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Existing customers dominate the dataset, highlighting class imbalance.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vs Transaction Behavior</a:t>
            </a:r>
          </a:p>
        </p:txBody>
      </p:sp>
      <p:pic>
        <p:nvPicPr>
          <p:cNvPr id="3" name="Picture 2" descr="67ce6944-84f4-4533-b1cb-dd5ee49c00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267" y="1475908"/>
            <a:ext cx="6047466" cy="46837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Attrited customers show significantly lower transaction counts.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Distribution (Boxplot)</a:t>
            </a:r>
          </a:p>
        </p:txBody>
      </p:sp>
      <p:pic>
        <p:nvPicPr>
          <p:cNvPr id="3" name="Picture 2" descr="278bea49-e895-4e1e-8c2f-214f5d5468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073" y="1417638"/>
            <a:ext cx="5223853" cy="45985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Wide variability in transaction behavior with high-engagement outliers.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Transaction Distribution (Histogram)</a:t>
            </a:r>
          </a:p>
        </p:txBody>
      </p:sp>
      <p:pic>
        <p:nvPicPr>
          <p:cNvPr id="3" name="Picture 2" descr="c44a31c7-5a7e-4aa7-89ea-14174f4eeb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937" y="1507765"/>
            <a:ext cx="5906125" cy="47101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Non-normal distribution supports tree-based modeling.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pic>
        <p:nvPicPr>
          <p:cNvPr id="3" name="Picture 2" descr="a5be6df9-26ed-492f-80f6-d76b8539c4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761" y="1323783"/>
            <a:ext cx="5366478" cy="48941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Strong correlations among behavioral features; demographics weaker.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Activity_Ratio</a:t>
            </a:r>
            <a:r>
              <a:rPr dirty="0"/>
              <a:t> = </a:t>
            </a:r>
            <a:r>
              <a:rPr dirty="0" err="1"/>
              <a:t>Total_Trans_Amt</a:t>
            </a:r>
            <a:r>
              <a:rPr dirty="0"/>
              <a:t> / </a:t>
            </a:r>
            <a:r>
              <a:rPr dirty="0" err="1"/>
              <a:t>Total_Trans_Ct</a:t>
            </a:r>
            <a:endParaRPr dirty="0"/>
          </a:p>
          <a:p>
            <a:r>
              <a:rPr dirty="0" err="1"/>
              <a:t>Engagement_Score</a:t>
            </a:r>
            <a:r>
              <a:rPr dirty="0"/>
              <a:t> combines tenure, contacts, and transactions</a:t>
            </a:r>
          </a:p>
          <a:p>
            <a:r>
              <a:rPr dirty="0"/>
              <a:t>Tenure and transaction frequency groupings created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Models evaluated: Logistic Regression, Decision Tree, Random Forest</a:t>
            </a:r>
          </a:p>
          <a:p>
            <a:r>
              <a:rPr dirty="0"/>
              <a:t>Best model: Random Forest</a:t>
            </a:r>
          </a:p>
          <a:p>
            <a:r>
              <a:rPr dirty="0"/>
              <a:t>Accuracy: 9</a:t>
            </a:r>
            <a:r>
              <a:rPr lang="en-US" dirty="0"/>
              <a:t>6</a:t>
            </a:r>
            <a:r>
              <a:rPr dirty="0"/>
              <a:t>.</a:t>
            </a:r>
            <a:r>
              <a:rPr lang="en-US" dirty="0"/>
              <a:t>19</a:t>
            </a:r>
            <a:r>
              <a:rPr dirty="0"/>
              <a:t>%,</a:t>
            </a:r>
            <a:endParaRPr lang="en-US" dirty="0"/>
          </a:p>
          <a:p>
            <a:r>
              <a:rPr dirty="0"/>
              <a:t>F1-score: 8</a:t>
            </a:r>
            <a:r>
              <a:rPr lang="en-US" dirty="0"/>
              <a:t>7</a:t>
            </a:r>
            <a:r>
              <a:rPr dirty="0"/>
              <a:t>.</a:t>
            </a:r>
            <a:r>
              <a:rPr lang="en-US" dirty="0"/>
              <a:t>39</a:t>
            </a:r>
            <a:r>
              <a:rPr dirty="0"/>
              <a:t>%,</a:t>
            </a:r>
            <a:endParaRPr lang="en-US" dirty="0"/>
          </a:p>
          <a:p>
            <a:r>
              <a:rPr dirty="0"/>
              <a:t>ROC-AUC: </a:t>
            </a:r>
            <a:r>
              <a:rPr lang="en-US" dirty="0"/>
              <a:t>0</a:t>
            </a:r>
            <a:r>
              <a:rPr dirty="0"/>
              <a:t>.98</a:t>
            </a:r>
            <a:r>
              <a:rPr lang="en-US" dirty="0"/>
              <a:t>8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4419F-7FC8-A332-4586-182DF5B9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 Importance </a:t>
            </a:r>
          </a:p>
        </p:txBody>
      </p:sp>
      <p:pic>
        <p:nvPicPr>
          <p:cNvPr id="5" name="Content Placeholder 4" descr="A graph of a number of individuals&#10;&#10;AI-generated content may be incorrect.">
            <a:extLst>
              <a:ext uri="{FF2B5EF4-FFF2-40B4-BE49-F238E27FC236}">
                <a16:creationId xmlns:a16="http://schemas.microsoft.com/office/drawing/2014/main" id="{232603EB-B6CB-56C6-C385-64E83441E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5132" y="1600200"/>
            <a:ext cx="7333736" cy="4525963"/>
          </a:xfrm>
        </p:spPr>
      </p:pic>
    </p:spTree>
    <p:extLst>
      <p:ext uri="{BB962C8B-B14F-4D97-AF65-F5344CB8AC3E}">
        <p14:creationId xmlns:p14="http://schemas.microsoft.com/office/powerpoint/2010/main" val="1196851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Model Evaluation –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98092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Random Forest correctly identifies most churned customers.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927898-5830-F3D0-54F7-52DA5B2B5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75" y="1221970"/>
            <a:ext cx="5868649" cy="441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– ROC Curve</a:t>
            </a:r>
          </a:p>
        </p:txBody>
      </p:sp>
      <p:pic>
        <p:nvPicPr>
          <p:cNvPr id="3" name="Picture 2" descr="6e8f5dc7-de6e-434d-acce-edc0e8d07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638"/>
            <a:ext cx="7315200" cy="4042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High AUC indicates excellent discrimination between churned and retained customers.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Key Drivers,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Low engagement and transaction frequency are primary churn drivers</a:t>
            </a:r>
          </a:p>
          <a:p>
            <a:r>
              <a:rPr dirty="0"/>
              <a:t>Behavioral signals outperform demographic variables</a:t>
            </a:r>
          </a:p>
          <a:p>
            <a:r>
              <a:rPr dirty="0"/>
              <a:t>Use model to proactively target at-risk customers with retention strategies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Customer Demographics – Age Distribution</a:t>
            </a:r>
          </a:p>
        </p:txBody>
      </p:sp>
      <p:pic>
        <p:nvPicPr>
          <p:cNvPr id="3" name="Picture 2" descr="efb46db4-c3f8-4839-9c76-fc6e9a313f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429" y="1390801"/>
            <a:ext cx="5733142" cy="45354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Customer ages are approximately normally distributed, concentrated between 35 and 60 years.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Customer Demographics – Income Distribution</a:t>
            </a:r>
          </a:p>
        </p:txBody>
      </p:sp>
      <p:pic>
        <p:nvPicPr>
          <p:cNvPr id="3" name="Picture 2" descr="cb65e4dd-5505-4263-97a5-c5e924d81d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88" y="1526906"/>
            <a:ext cx="5918424" cy="4581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012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Income levels are clustered into discrete bands, indicating distinct customer income segments.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Demographics – Gender</a:t>
            </a:r>
          </a:p>
        </p:txBody>
      </p:sp>
      <p:pic>
        <p:nvPicPr>
          <p:cNvPr id="3" name="Picture 2" descr="4257c186-d6b1-413a-9498-7a40c0a364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514" y="1417638"/>
            <a:ext cx="5558971" cy="45907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8686" y="6190025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Churn proportions are similar across genders, indicating gender is not a primary churn driver.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Customer Demographics – Income (Upper Bound)</a:t>
            </a:r>
          </a:p>
        </p:txBody>
      </p:sp>
      <p:pic>
        <p:nvPicPr>
          <p:cNvPr id="3" name="Picture 2" descr="02e6064c-eda8-4269-a794-e699cd2f0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85" y="1489608"/>
            <a:ext cx="5921829" cy="46563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217920"/>
            <a:ext cx="9608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Customers are grouped into income bands, with no sharp churn separation across income levels.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364</Words>
  <Application>Microsoft Office PowerPoint</Application>
  <PresentationFormat>On-screen Show (4:3)</PresentationFormat>
  <Paragraphs>51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Customer Churn Analysis – Bank Churners</vt:lpstr>
      <vt:lpstr>Project Overview</vt:lpstr>
      <vt:lpstr>Dataset Summary</vt:lpstr>
      <vt:lpstr>Data Cleaning Steps</vt:lpstr>
      <vt:lpstr>Churn Comparison</vt:lpstr>
      <vt:lpstr>Churn vs Transaction Behavior</vt:lpstr>
      <vt:lpstr>Transaction Distribution (Boxplot)</vt:lpstr>
      <vt:lpstr>Transaction Distribution (Histogram)</vt:lpstr>
      <vt:lpstr>Correlation Analysis</vt:lpstr>
      <vt:lpstr>Feature Engineering</vt:lpstr>
      <vt:lpstr>Modeling Results</vt:lpstr>
      <vt:lpstr>Feature Importance </vt:lpstr>
      <vt:lpstr>Model Evaluation – Confusion Matrix</vt:lpstr>
      <vt:lpstr>Model Evaluation – ROC Curve</vt:lpstr>
      <vt:lpstr>Key Drivers, Insights &amp; Recommendations</vt:lpstr>
      <vt:lpstr>Customer Demographics – Age Distribution</vt:lpstr>
      <vt:lpstr>Customer Demographics – Income Distribution</vt:lpstr>
      <vt:lpstr>Customer Demographics – Gender</vt:lpstr>
      <vt:lpstr>Customer Demographics – Income (Upper Bound)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 Mohamed</cp:lastModifiedBy>
  <cp:revision>5</cp:revision>
  <dcterms:created xsi:type="dcterms:W3CDTF">2013-01-27T09:14:16Z</dcterms:created>
  <dcterms:modified xsi:type="dcterms:W3CDTF">2025-12-15T14:50:23Z</dcterms:modified>
  <cp:category/>
</cp:coreProperties>
</file>